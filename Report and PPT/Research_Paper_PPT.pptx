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8" r:id="rId15"/>
    <p:sldId id="277" r:id="rId16"/>
    <p:sldId id="268" r:id="rId17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1446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US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287382" y="870856"/>
            <a:ext cx="8717281" cy="5765075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in Education: Applications, Benefits and Challenges – A Systematic Review</a:t>
            </a:r>
            <a:r>
              <a:rPr lang="en-US" sz="4400" dirty="0"/>
              <a:t> </a:t>
            </a: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by: </a:t>
            </a:r>
            <a:r>
              <a:rPr lang="en-US" sz="2400" spc="-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Kritica</a:t>
            </a: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(2210990523)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Submitted to: Dr Lalit Sharma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Department of Computer Science and Engineering, Chitkara University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48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12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339874" y="731521"/>
            <a:ext cx="8464251" cy="56250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everywhere now, and classrooms are no exception.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AI applications in education: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Khan Academy and Duolingo use adaptive algorithms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adjust difficulty based on student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by millions of students globally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this different: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Scale – personalization for every individual student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Sophistication – AI responds to learning patterns in real-time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Never possible before at this scale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139700" lvl="0">
              <a:buClr>
                <a:srgbClr val="000000"/>
              </a:buClr>
              <a:buSzPts val="1400"/>
            </a:pP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9F877-5434-57D4-F49B-C0C2A82DC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BDEA677-DA2B-7435-9C6E-E0F53A43DC23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CC161FE-58D7-CF3A-5CB8-148DFD4AB3C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85D0C8D-4F7F-1BB2-A7C3-91F3A99B4D4E}"/>
              </a:ext>
            </a:extLst>
          </p:cNvPr>
          <p:cNvSpPr txBox="1"/>
          <p:nvPr/>
        </p:nvSpPr>
        <p:spPr>
          <a:xfrm>
            <a:off x="265491" y="84812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Despite rapid adoption of AI in education: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Confusion about what actually works in real classrooms vs. lab settings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comprehensive critical review of applications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frameworks almost entirely absent from literature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barriers limiting real-world deployment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training remains a major bottleneck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 for systematic evaluation of AI's actual effectiveness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508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42236-FD21-9B5F-263B-172B1D28FE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3C2A094-6CC8-0018-A7BC-7B3B5B2EE070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880F6FF-813B-8E03-73AD-5B10DC0D3975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6F7ECBF-9E19-E044-CF7B-68C528783711}"/>
              </a:ext>
            </a:extLst>
          </p:cNvPr>
          <p:cNvSpPr txBox="1"/>
          <p:nvPr/>
        </p:nvSpPr>
        <p:spPr>
          <a:xfrm>
            <a:off x="361525" y="100040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objective of this systematic review is to: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and analyze key AI applications in educational settings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documented benefits and effectiveness of AI tools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Examine challenges, limitations, and ethical concerns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current state of research and identify gaps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recommendations for responsible AI deployment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7945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E2EB1-C8D4-BD8C-3403-F1ECCEFCD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F0E7043-260B-2B63-AB55-6E250A85D6E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Solution Overview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3485755-7D0A-F8D5-094B-68B03D903C7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321CB39-95B3-9A02-2CD6-5A3DB540254C}"/>
              </a:ext>
            </a:extLst>
          </p:cNvPr>
          <p:cNvSpPr txBox="1"/>
          <p:nvPr/>
        </p:nvSpPr>
        <p:spPr>
          <a:xfrm>
            <a:off x="361525" y="100040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Systematic Literature Review Approach: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Scope: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 peer-reviewed studies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Published: 2010-2022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Databases: IEEE Xplore, SpringerLink, Google Scholar, ACM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Key Application Areas: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 (adaptive platforms)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Tutoring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Assessment and Grading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Analytics for early intervention</a:t>
            </a:r>
          </a:p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Process: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Search (252 papers) → Filter (47 papers) → Review (15 papers) →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Themes</a:t>
            </a: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7663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73E2A-0390-7C98-EF31-E5BDF7352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7B9648B-02CB-1C10-B8D7-D4A5B7C4580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DF167C1-57F5-1C39-37E7-0638CFA32DD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2DBDC89-BA8D-25DC-0CEB-0111ADF375E4}"/>
              </a:ext>
            </a:extLst>
          </p:cNvPr>
          <p:cNvSpPr txBox="1"/>
          <p:nvPr/>
        </p:nvSpPr>
        <p:spPr>
          <a:xfrm>
            <a:off x="361525" y="100040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1: Database Search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search: 252 papers across 4 databases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terms: "AI in Education," "Intelligent Tutoring," "Adaptive Learning"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2: Filtering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Inclusion criteria: peer-reviewed, 2010-2022, educational focus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to: 47 papers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3: Final Selection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Full-text review with quality assessment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Final: 15 high-quality studies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Stage 4: Analysis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Thematic coding across applications, effectiveness, challenges, ethics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Synthesis of findings and recommendations</a:t>
            </a:r>
          </a:p>
          <a:p>
            <a:pPr>
              <a:spcBef>
                <a:spcPts val="400"/>
              </a:spcBef>
            </a:pPr>
            <a:endParaRPr lang="en-US" sz="2400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04514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CB5D6-2735-8A00-FB24-90E287E2F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2D2C04E4-F77E-B16F-AFC9-E449928C0BC8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Search Strategy</a:t>
            </a:r>
          </a:p>
          <a:p>
            <a:pPr algn="ctr">
              <a:lnSpc>
                <a:spcPct val="100000"/>
              </a:lnSpc>
            </a:pP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CC475B6-A5A2-517F-1CF6-2EFB6AA513D4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BCD84CC-1C0B-4F23-187C-A2B073A96E95}"/>
              </a:ext>
            </a:extLst>
          </p:cNvPr>
          <p:cNvSpPr txBox="1"/>
          <p:nvPr/>
        </p:nvSpPr>
        <p:spPr>
          <a:xfrm>
            <a:off x="200297" y="913321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Databases Used: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Xplore: 68 papers → 4 selected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SpringerLink: 52 papers → 3 selected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Scholar: 89 papers → 6 selected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Digital Library: 43 papers → 2 selected</a:t>
            </a: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252 initial results ↓ 15 final papers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Period: October 2025 | Date Range: 2010-2022 | Language: English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7301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508D3-0CB8-0B86-F0BF-4A3503FB6D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DDBF320-5203-EAFD-9040-FAE837EB617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Applications Overview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110B55E-10D2-4EB1-CB2B-FB516D96519D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B3537B0-2A41-241B-BF13-66F44511A63E}"/>
              </a:ext>
            </a:extLst>
          </p:cNvPr>
          <p:cNvSpPr txBox="1"/>
          <p:nvPr/>
        </p:nvSpPr>
        <p:spPr>
          <a:xfrm>
            <a:off x="265491" y="1052801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b="1" dirty="0"/>
              <a:t>1.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Learning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Knewton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Carnegie Learning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Effectiveness: Improved scores in math, coding, languages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Intelligent Tutoring Systems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AutoTutor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Achievement: Learning gains comparable to human tutoring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Automated Assessment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 Turnitin AI grading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Benefit: Faster feedback, higher student satisfaction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Learning Analytics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 Early warning systems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Impact: 5 to 15% improvement in retention rates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99038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E30C5-DAA1-2DF9-476C-9F08AD795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7251816-923C-7AC5-FAF6-46B427AA486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F3F29F7-E210-EE7A-F9FC-FF43B76D93D3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B72CF2D-314C-5E9E-2983-E884DF9A2457}"/>
              </a:ext>
            </a:extLst>
          </p:cNvPr>
          <p:cNvSpPr txBox="1"/>
          <p:nvPr/>
        </p:nvSpPr>
        <p:spPr>
          <a:xfrm>
            <a:off x="265491" y="954686"/>
            <a:ext cx="8420949" cy="5720794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Concentration: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47.6% of research focuses on student profiling and prediction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Growth: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400% growth in publications (2010-2020)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Deficit: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5 out of 146 papers addressed ethical concerns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Bias: Over 70% of research from USA, China, UK only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Longitudinal Studies: Most studies track only short-term effects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vs Reality: Most studies conducted in controlled settings, not real classrooms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Neglected: Only 3.4% of papers address ethical implications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902888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BE8B-26FC-9203-7D3E-2777114D3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7EE24092-10E6-A4EB-6D7D-CC7D584C059D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Ethical Concerns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9DA9BCF-FFBF-BB49-F053-51887C8521B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D00ACAC5-23DA-F232-0544-3D6F51C63EC4}"/>
              </a:ext>
            </a:extLst>
          </p:cNvPr>
          <p:cNvSpPr txBox="1"/>
          <p:nvPr/>
        </p:nvSpPr>
        <p:spPr>
          <a:xfrm>
            <a:off x="300565" y="1165869"/>
            <a:ext cx="8324915" cy="4999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Privacy &amp; Security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interaction generates detailed student profiles with unclear ownership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Bias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Models trained on privileged institutions produce unfair predictions for diverse backgrounds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Issues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Black box decision making prevents students from challenging predictions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Gap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Requires reliable internet and devices, widens inequality in developing regions</a:t>
            </a:r>
          </a:p>
        </p:txBody>
      </p:sp>
    </p:spTree>
    <p:extLst>
      <p:ext uri="{BB962C8B-B14F-4D97-AF65-F5344CB8AC3E}">
        <p14:creationId xmlns:p14="http://schemas.microsoft.com/office/powerpoint/2010/main" val="8704604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39C12-D9A9-4009-7076-7C06F820F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A15DD47-3AA1-AD14-DDB3-BA5909A54882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Summary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262CBCE-BF4B-74FC-94CF-E5F4C42D6BA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98DAE1E-EC74-52CC-9708-C85DDC5CEDC3}"/>
              </a:ext>
            </a:extLst>
          </p:cNvPr>
          <p:cNvSpPr txBox="1"/>
          <p:nvPr/>
        </p:nvSpPr>
        <p:spPr>
          <a:xfrm>
            <a:off x="300565" y="1165869"/>
            <a:ext cx="8324915" cy="4999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Works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Adaptive learning: effective for sequential subjects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ITS: comparable to human tutoring in well-defined domains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warning systems: improve retention when coupled with support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Doesn't Work Yet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struggles with creative, ethical reasoning subjects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 success does not equal classroom adoption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 training is the main bottleneck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Finding: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Tools work when teachers are trained, infrastructure is reliable, and students are involved in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08026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F07BA-5855-5444-929F-1E262A47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EDF92B73-9A2F-C112-FBC7-35F0A74B9EAF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9B9993C-F856-8204-8AE8-4E2E95D76DE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9B4BB7A-3E89-3722-02E3-C263455156A8}"/>
              </a:ext>
            </a:extLst>
          </p:cNvPr>
          <p:cNvSpPr txBox="1"/>
          <p:nvPr/>
        </p:nvSpPr>
        <p:spPr>
          <a:xfrm>
            <a:off x="300565" y="1165869"/>
            <a:ext cx="8324915" cy="4999800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is not going to solve all education problems, but evidence suggests thoughtful deployment can make real differences.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Proven applications exist with documented effectiveness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is harder than technology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is severely neglected (only 3.4% of papers)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 inequality: research concentrated in wealthy nations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effects unknown (no longitudinal studies)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Before deploying AI, ask: Who does it work for? Who might it harm? Did students have any say in the decision?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800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34805</TotalTime>
  <Words>858</Words>
  <Application>Microsoft Office PowerPoint</Application>
  <PresentationFormat>On-screen Show (4:3)</PresentationFormat>
  <Paragraphs>186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Kritika (00003097819)</cp:lastModifiedBy>
  <cp:revision>2303</cp:revision>
  <dcterms:created xsi:type="dcterms:W3CDTF">2010-04-09T07:36:15Z</dcterms:created>
  <dcterms:modified xsi:type="dcterms:W3CDTF">2026-05-16T15:31:54Z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